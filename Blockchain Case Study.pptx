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oto Sans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otoSans-bold.fntdata"/><Relationship Id="rId12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-boldItalic.fntdata"/><Relationship Id="rId14" Type="http://schemas.openxmlformats.org/officeDocument/2006/relationships/font" Target="fonts/NotoSans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📍📍Dear Students,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the BC Lab, prepare the case study demonstration based on the implementation in experiments 6, 7 &amp; 8.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Case study ppt - 5 slides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problem statement  &amp; significance of Blockchain in the domain, key stakeholders,  smart contracts involved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architecture diagram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implementation of experiments 6, 7 &amp; and 8, one slide each.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464351df2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464351df2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464351df2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464351df2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64351df2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464351df2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464351df2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464351df2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b38e59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bb38e59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79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3807575" y="855850"/>
            <a:ext cx="53364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941"/>
              <a:buFont typeface="Montserrat"/>
              <a:buNone/>
            </a:pPr>
            <a:r>
              <a:rPr b="1" i="0" lang="en" sz="2840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Anti-Counterfeit Medicine Tracking System</a:t>
            </a:r>
            <a:endParaRPr i="0" sz="284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807575" y="1887150"/>
            <a:ext cx="4945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1"/>
              <a:buFont typeface="Montserrat"/>
              <a:buNone/>
            </a:pPr>
            <a:r>
              <a:rPr i="0" lang="en" sz="1600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Leveraging Blockchain for Pharmaceutical Supply Chain Integrity</a:t>
            </a:r>
            <a:endParaRPr i="0" sz="160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603894" y="3944400"/>
            <a:ext cx="15402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7"/>
              <a:buFont typeface="Inconsolata"/>
              <a:buNone/>
            </a:pPr>
            <a:r>
              <a:rPr b="1" lang="en" sz="1156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Name: Gautam Rai</a:t>
            </a:r>
            <a:endParaRPr b="1" sz="1156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7"/>
              <a:buFont typeface="Inconsolata"/>
              <a:buNone/>
            </a:pPr>
            <a:r>
              <a:rPr b="1" lang="en" sz="1156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Roll No: 53</a:t>
            </a:r>
            <a:endParaRPr b="1" sz="1156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7"/>
              <a:buFont typeface="Inconsolata"/>
              <a:buNone/>
            </a:pPr>
            <a:r>
              <a:rPr b="1" lang="en" sz="1156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Class: D17C</a:t>
            </a:r>
            <a:endParaRPr b="1" sz="1156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7"/>
              <a:buFont typeface="Inconsolata"/>
              <a:buNone/>
            </a:pPr>
            <a:r>
              <a:rPr b="1" lang="en" sz="1156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Batch: B</a:t>
            </a:r>
            <a:endParaRPr b="1" sz="1156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215400" y="354000"/>
            <a:ext cx="8713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373"/>
              <a:buFont typeface="Montserrat"/>
              <a:buNone/>
            </a:pPr>
            <a:r>
              <a:rPr b="1" lang="en" sz="3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Chapter 1 / Problem &amp; Solution</a:t>
            </a:r>
            <a:endParaRPr i="0" sz="320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15400" y="1261125"/>
            <a:ext cx="3562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88"/>
              <a:buFont typeface="Montserrat"/>
              <a:buNone/>
            </a:pPr>
            <a:r>
              <a:rPr b="1" i="0" lang="en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The Problem: Counterfeit Drugs</a:t>
            </a:r>
            <a:endParaRPr i="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15400" y="1581675"/>
            <a:ext cx="40281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00"/>
              <a:buFont typeface="Inconsolata"/>
              <a:buChar char="❖"/>
            </a:pPr>
            <a:r>
              <a:rPr b="1"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Counterfeit drugs pose a major global health risk</a:t>
            </a: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 due to unverified, ineffective, or harmful ingredients.</a:t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00"/>
              <a:buFont typeface="Inconsolata"/>
              <a:buChar char="❖"/>
            </a:pP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Manufacturers face </a:t>
            </a:r>
            <a:r>
              <a:rPr b="1"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substantial financial losses</a:t>
            </a: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 and damage to consumer trust.</a:t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00"/>
              <a:buFont typeface="Inconsolata"/>
              <a:buChar char="❖"/>
            </a:pP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Existing solutions, such as </a:t>
            </a:r>
            <a:r>
              <a:rPr b="1"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holograms </a:t>
            </a: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and </a:t>
            </a:r>
            <a:r>
              <a:rPr b="1"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barcodes</a:t>
            </a: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, have failed to fully verify authenticity or address these challenges.</a:t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00"/>
              <a:buFont typeface="Inconsolata"/>
              <a:buChar char="❖"/>
            </a:pPr>
            <a:r>
              <a:rPr b="1"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Current tracking systems and supply chain management</a:t>
            </a:r>
            <a:r>
              <a:rPr lang="en" sz="1200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 remain fragmented and lack transparency, making them difficult to secure.</a:t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309973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309973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61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710549" y="1261125"/>
            <a:ext cx="3854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88"/>
              <a:buFont typeface="Montserrat"/>
              <a:buNone/>
            </a:pPr>
            <a:r>
              <a:rPr b="1" i="0" lang="en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The Solution: </a:t>
            </a:r>
            <a:r>
              <a:rPr b="1" i="0" lang="en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Blockchain Traceability</a:t>
            </a:r>
            <a:endParaRPr b="0" i="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4710555" y="1581672"/>
            <a:ext cx="4433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847"/>
              <a:buFont typeface="Inconsolata"/>
              <a:buNone/>
            </a:pPr>
            <a:r>
              <a:rPr i="0" lang="en" sz="1247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We propose a decentralized, immutable ledger system to track every drug batch.</a:t>
            </a:r>
            <a:endParaRPr i="0" sz="1247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710605" y="2175024"/>
            <a:ext cx="251100" cy="251100"/>
          </a:xfrm>
          <a:prstGeom prst="roundRect">
            <a:avLst>
              <a:gd fmla="val 2472" name="adj"/>
            </a:avLst>
          </a:prstGeom>
          <a:solidFill>
            <a:srgbClr val="F8ECE4"/>
          </a:solidFill>
          <a:ln cap="flat" cmpd="sng" w="64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0332">
              <a:srgbClr val="151617"/>
            </a:outerShdw>
          </a:effectLst>
        </p:spPr>
        <p:txBody>
          <a:bodyPr anchorCtr="0" anchor="ctr" bIns="62000" lIns="62000" spcFirstLastPara="1" rIns="62000" wrap="square" tIns="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2379" y="2195891"/>
            <a:ext cx="167176" cy="2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72888" y="2213287"/>
            <a:ext cx="1393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85"/>
              <a:buFont typeface="Montserrat"/>
              <a:buNone/>
            </a:pPr>
            <a:r>
              <a:rPr b="1" i="0" lang="en" sz="1200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Registration</a:t>
            </a:r>
            <a:endParaRPr i="0" sz="120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072888" y="2498963"/>
            <a:ext cx="4071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847"/>
              <a:buFont typeface="Inconsolata"/>
              <a:buNone/>
            </a:pPr>
            <a:r>
              <a:rPr i="0" lang="en" sz="1047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Manufacturers anchor drug batches on the chain.</a:t>
            </a:r>
            <a:endParaRPr i="0" sz="1047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710605" y="2900233"/>
            <a:ext cx="251100" cy="251100"/>
          </a:xfrm>
          <a:prstGeom prst="roundRect">
            <a:avLst>
              <a:gd fmla="val 2472" name="adj"/>
            </a:avLst>
          </a:prstGeom>
          <a:solidFill>
            <a:srgbClr val="F8ECE4"/>
          </a:solidFill>
          <a:ln cap="flat" cmpd="sng" w="64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0332">
              <a:srgbClr val="151617"/>
            </a:outerShdw>
          </a:effectLst>
        </p:spPr>
        <p:txBody>
          <a:bodyPr anchorCtr="0" anchor="ctr" bIns="62000" lIns="62000" spcFirstLastPara="1" rIns="62000" wrap="square" tIns="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379" y="2921099"/>
            <a:ext cx="167176" cy="2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072904" y="2938500"/>
            <a:ext cx="21615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85"/>
              <a:buFont typeface="Montserrat"/>
              <a:buNone/>
            </a:pPr>
            <a:r>
              <a:rPr b="1" i="0" lang="en" sz="1200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Transfer Confirmation</a:t>
            </a:r>
            <a:endParaRPr i="0" sz="120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72888" y="3224171"/>
            <a:ext cx="4071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847"/>
              <a:buFont typeface="Inconsolata"/>
              <a:buNone/>
            </a:pPr>
            <a:r>
              <a:rPr i="0" lang="en" sz="1047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Wholesalers and pharmacies confirm secure handoffs.</a:t>
            </a:r>
            <a:endParaRPr i="0" sz="1047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710605" y="3625441"/>
            <a:ext cx="251100" cy="251100"/>
          </a:xfrm>
          <a:prstGeom prst="roundRect">
            <a:avLst>
              <a:gd fmla="val 2472" name="adj"/>
            </a:avLst>
          </a:prstGeom>
          <a:solidFill>
            <a:srgbClr val="F8ECE4"/>
          </a:solidFill>
          <a:ln cap="flat" cmpd="sng" w="64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0332">
              <a:srgbClr val="151617"/>
            </a:outerShdw>
          </a:effectLst>
        </p:spPr>
        <p:txBody>
          <a:bodyPr anchorCtr="0" anchor="ctr" bIns="62000" lIns="62000" spcFirstLastPara="1" rIns="62000" wrap="square" tIns="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2379" y="3646308"/>
            <a:ext cx="167176" cy="2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5072888" y="3663704"/>
            <a:ext cx="1393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85"/>
              <a:buFont typeface="Montserrat"/>
              <a:buNone/>
            </a:pPr>
            <a:r>
              <a:rPr b="1" i="0" lang="en" sz="1200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Verification</a:t>
            </a:r>
            <a:endParaRPr i="0" sz="1200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072888" y="3949380"/>
            <a:ext cx="4071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847"/>
              <a:buFont typeface="Inconsolata"/>
              <a:buNone/>
            </a:pPr>
            <a:r>
              <a:rPr i="0" lang="en" sz="1047" u="none" cap="none" strike="noStrike">
                <a:solidFill>
                  <a:srgbClr val="151617"/>
                </a:solidFill>
                <a:latin typeface="Noto Sans"/>
                <a:ea typeface="Noto Sans"/>
                <a:cs typeface="Noto Sans"/>
                <a:sym typeface="Noto Sans"/>
              </a:rPr>
              <a:t>Consumers scan and verify authenticity and provenance.</a:t>
            </a:r>
            <a:endParaRPr i="0" sz="1047" u="none" cap="none" strike="noStrike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215390" y="272025"/>
            <a:ext cx="8919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050"/>
              <a:buFont typeface="Montserrat"/>
              <a:buNone/>
            </a:pP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Chapter 2 / Stakeholders and Contracts</a:t>
            </a:r>
            <a:endParaRPr b="0" i="0" sz="3050" u="none" cap="none" strike="noStrike"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00" y="880075"/>
            <a:ext cx="8375204" cy="408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215390" y="272025"/>
            <a:ext cx="8919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050"/>
              <a:buFont typeface="Montserrat"/>
              <a:buNone/>
            </a:pP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Chapter 3 / Smart Contracts [Exp 6]</a:t>
            </a:r>
            <a:endParaRPr b="0" i="0" sz="3050" u="none" cap="none" strike="noStrike"/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6075" l="3967" r="3764" t="5491"/>
          <a:stretch/>
        </p:blipFill>
        <p:spPr>
          <a:xfrm>
            <a:off x="215400" y="797075"/>
            <a:ext cx="4766925" cy="289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350" y="2505400"/>
            <a:ext cx="3856875" cy="24030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707412" y="3690625"/>
            <a:ext cx="178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rPr>
              <a:t>ManufacturerRegistery.sol</a:t>
            </a:r>
            <a:endParaRPr sz="1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278138" y="2218000"/>
            <a:ext cx="143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rPr>
              <a:t>CustomerPortal</a:t>
            </a:r>
            <a:r>
              <a:rPr lang="en" sz="1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rPr>
              <a:t>.sol</a:t>
            </a:r>
            <a:endParaRPr sz="1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215390" y="272025"/>
            <a:ext cx="8919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050"/>
              <a:buFont typeface="Montserrat"/>
              <a:buNone/>
            </a:pP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Chapter 4 / Using Sepolia TestNet [Exp 7]</a:t>
            </a:r>
            <a:endParaRPr b="0" i="0" sz="3050" u="none" cap="none" strike="noStrike"/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/>
          </a:blip>
          <a:srcRect b="39474" l="7001" r="31686" t="0"/>
          <a:stretch/>
        </p:blipFill>
        <p:spPr>
          <a:xfrm>
            <a:off x="513025" y="1114850"/>
            <a:ext cx="3318455" cy="15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7375" y="896550"/>
            <a:ext cx="3789625" cy="21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525" y="3143050"/>
            <a:ext cx="59436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DCC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215390" y="272025"/>
            <a:ext cx="8919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050"/>
              <a:buFont typeface="Montserrat"/>
              <a:buNone/>
            </a:pP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Chapter 5 / </a:t>
            </a: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Using</a:t>
            </a:r>
            <a:r>
              <a:rPr b="1" lang="en" sz="305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 Ganache [Exp 8]</a:t>
            </a:r>
            <a:endParaRPr b="0" i="0" sz="3050" u="none" cap="none" strike="noStrike"/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34759" l="0" r="0" t="0"/>
          <a:stretch/>
        </p:blipFill>
        <p:spPr>
          <a:xfrm>
            <a:off x="215400" y="926188"/>
            <a:ext cx="59436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0450" y="2326075"/>
            <a:ext cx="59436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